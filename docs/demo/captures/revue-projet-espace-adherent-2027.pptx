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Faible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Brut</c:v>
                  </c:pt>
                  <c:pt idx="1">
                    <c:v>Actuel</c:v>
                  </c:pt>
                  <c:pt idx="2">
                    <c:v>Résiduel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Modéré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Brut</c:v>
                  </c:pt>
                  <c:pt idx="1">
                    <c:v>Actuel</c:v>
                  </c:pt>
                  <c:pt idx="2">
                    <c:v>Résiduel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14</c:v>
                </c:pt>
                <c:pt idx="2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Élevé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Brut</c:v>
                  </c:pt>
                  <c:pt idx="1">
                    <c:v>Actuel</c:v>
                  </c:pt>
                  <c:pt idx="2">
                    <c:v>Résiduel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Critique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Brut</c:v>
                  </c:pt>
                  <c:pt idx="1">
                    <c:v>Actuel</c:v>
                  </c:pt>
                  <c:pt idx="2">
                    <c:v>Résiduel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Risques par catégorie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338CA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Cyber</c:v>
                </c:pt>
                <c:pt idx="1">
                  <c:v>Projet</c:v>
                </c:pt>
                <c:pt idx="2">
                  <c:v>Métier</c:v>
                </c:pt>
                <c:pt idx="3">
                  <c:v>Externalisation</c:v>
                </c:pt>
                <c:pt idx="4">
                  <c:v>Fraude</c:v>
                </c:pt>
                <c:pt idx="5">
                  <c:v>IT (architecture, maintenance)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Plans par 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À faire</c:v>
                </c:pt>
                <c:pt idx="1">
                  <c:v>En cours</c:v>
                </c:pt>
                <c:pt idx="2">
                  <c:v>Fait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Prévu (jalons)</c:v>
                </c:pt>
              </c:strCache>
            </c:strRef>
          </c:tx>
          <c:spPr>
            <a:solidFill>
              <a:srgbClr val="4338CA"/>
            </a:solidFill>
            <a:ln w="38100" cap="flat">
              <a:solidFill>
                <a:srgbClr val="4338C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338CA"/>
              </a:solidFill>
              <a:ln w="9525" cap="flat">
                <a:solidFill>
                  <a:srgbClr val="4338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07/10</c:v>
                  </c:pt>
                  <c:pt idx="1">
                    <c:v>15/12</c:v>
                  </c:pt>
                  <c:pt idx="2">
                    <c:v>20/12</c:v>
                  </c:pt>
                  <c:pt idx="3">
                    <c:v>31/12</c:v>
                  </c:pt>
                  <c:pt idx="4">
                    <c:v>15/01</c:v>
                  </c:pt>
                  <c:pt idx="5">
                    <c:v>31/01</c:v>
                  </c:pt>
                  <c:pt idx="6">
                    <c:v>10/02</c:v>
                  </c:pt>
                  <c:pt idx="7">
                    <c:v>15/02</c:v>
                  </c:pt>
                  <c:pt idx="8">
                    <c:v>20/02</c:v>
                  </c:pt>
                  <c:pt idx="9">
                    <c:v>25/02</c:v>
                  </c:pt>
                  <c:pt idx="10">
                    <c:v>01/03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14</c:v>
                </c:pt>
                <c:pt idx="5">
                  <c:v>12</c:v>
                </c:pt>
                <c:pt idx="6">
                  <c:v>11</c:v>
                </c:pt>
                <c:pt idx="7">
                  <c:v>10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</c:v>
                </c:pt>
              </c:strCache>
            </c:strRef>
          </c:tx>
          <c:spPr>
            <a:solidFill>
              <a:srgbClr val="9CA3AF"/>
            </a:solidFill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07/10</c:v>
                  </c:pt>
                  <c:pt idx="1">
                    <c:v>15/12</c:v>
                  </c:pt>
                  <c:pt idx="2">
                    <c:v>20/12</c:v>
                  </c:pt>
                  <c:pt idx="3">
                    <c:v>31/12</c:v>
                  </c:pt>
                  <c:pt idx="4">
                    <c:v>15/01</c:v>
                  </c:pt>
                  <c:pt idx="5">
                    <c:v>31/01</c:v>
                  </c:pt>
                  <c:pt idx="6">
                    <c:v>10/02</c:v>
                  </c:pt>
                  <c:pt idx="7">
                    <c:v>15/02</c:v>
                  </c:pt>
                  <c:pt idx="8">
                    <c:v>20/02</c:v>
                  </c:pt>
                  <c:pt idx="9">
                    <c:v>25/02</c:v>
                  </c:pt>
                  <c:pt idx="10">
                    <c:v>01/03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</c:v>
                </c:pt>
                <c:pt idx="1">
                  <c:v>9.5</c:v>
                </c:pt>
                <c:pt idx="2">
                  <c:v>8.8</c:v>
                </c:pt>
                <c:pt idx="3">
                  <c:v>7.5</c:v>
                </c:pt>
                <c:pt idx="4">
                  <c:v>5.6</c:v>
                </c:pt>
                <c:pt idx="5">
                  <c:v>3.6</c:v>
                </c:pt>
                <c:pt idx="6">
                  <c:v>2.4</c:v>
                </c:pt>
                <c:pt idx="7">
                  <c:v>1.7</c:v>
                </c:pt>
                <c:pt idx="8">
                  <c:v>1.1</c:v>
                </c:pt>
                <c:pt idx="9">
                  <c:v>0.5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Revue de projet — risques et plans d’action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Espace adhérent 2027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</a:rPr>
              <a:t>En cours · Santé / Médico-social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⛅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Éclaircies — vigilance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Mise en service : 01/03/2027 (J-145)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</a:rPr>
              <a:t>Généré le 07/10/2026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Synthèse exécutive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0" cy="251460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Météo du projet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BBF24"/>
                </a:solidFill>
              </a:rPr>
              <a:t>⛅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Éclaircies — vigilance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Date de mise en service : 01/03/2027 (J-145)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2801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3533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Avancement des plans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0 %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305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 terminé(s) sur 18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88152" y="12801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13533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Plans en retard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5312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781544" y="12801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13533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Risques à traiter sans 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18704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774936" y="12801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2096" y="13533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Résiduels au-dessus de l’appétit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12096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9476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</a:rPr>
              <a:t>Points d’attention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</a:rPr>
              <a:t>Plans sans porteur : 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</a:rPr>
              <a:t>Principaux risques (niveau actuel)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0972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891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Fuite des données de santé des adhérents (justificatifs, actes remboursés)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389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Critique · 12 · Cyber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73168"/>
            <a:ext cx="10972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731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Dérive du planning : le projet ne tient pas ses jalons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773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Élevé · 9 · Projet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157216"/>
            <a:ext cx="10972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572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Compromission d’un service exposé sur Internet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0" y="51572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Élevé · 9 · Cyber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541264"/>
            <a:ext cx="10972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5412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Analyse d’impact (AIPD) non réalisée avant la mise en 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95360" y="5541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Élevé · 9 · Métier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925312"/>
            <a:ext cx="10972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92531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Réponse erronée ou divulgation de données par l’assistant d’IA (y compris par injection d’instructions)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5925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Élevé · 9 · Cyber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Vision du projet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73152" cy="2194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Périmètre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Portail web et application mobile (iOS, Android) : souscription et avenant en ligne avec signature électronique, dépôt de justificatifs avec lecture automatique, suivi des remboursements, attestation de tiers payant, messagerie sécurisée, assistant conversationnel IA ; passerelle d’API vers le système de gestion interne ; reprise des comptes existants. Hors périmètre : refonte du système de gestion des prestations, espace professionnels de santé, parcours courtiers.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73152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258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Objectifs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Souscription et avenant 100 % en ligne ; dépôt de justificatifs web et mobile ; assistant IA avec passage à un conseiller ; paiement des cotisations par SEPA et carte ; -30 % d’appels « où en est mon remboursement ? » en 12 mois.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73152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Secteur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Santé / Médico-social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3749040"/>
            <a:ext cx="73152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40690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Exposition sur Internet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Zone démilitarisée (DMZ)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Applications et terminaux mobiles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Hébergement en nuage (IaaS / PaaS)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Services en ligne (SaaS)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Usage de services d’IA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API exposées à des partenaires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Interconnexion avec un tiers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SI sensible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Système d’administration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Journalisation et supervision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749040"/>
            <a:ext cx="73152" cy="2377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Analyses cyber du projet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0690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Aucun élément.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Cartographie des risques — Actuel / Résiduel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Actuel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Maximale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83080" y="1737360"/>
            <a:ext cx="104013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23210" y="1737360"/>
            <a:ext cx="1040130" cy="1005840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3210" y="173736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63340" y="1737360"/>
            <a:ext cx="104013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3470" y="1737360"/>
            <a:ext cx="104013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Forte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274320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23210" y="274320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3210" y="274320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63340" y="2743200"/>
            <a:ext cx="1040130" cy="1005840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3340" y="274320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03470" y="2743200"/>
            <a:ext cx="1040130" cy="1005840"/>
          </a:xfrm>
          <a:prstGeom prst="rect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3470" y="274320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Significative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374904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23210" y="3749040"/>
            <a:ext cx="104013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3340" y="374904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3340" y="374904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03470" y="3749040"/>
            <a:ext cx="1040130" cy="1005840"/>
          </a:xfrm>
          <a:prstGeom prst="rect">
            <a:avLst/>
          </a:prstGeom>
          <a:solidFill>
            <a:srgbClr val="F97316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54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Minime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783080" y="475488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23210" y="475488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63340" y="475488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03470" y="4754880"/>
            <a:ext cx="104013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Négligeable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2321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Limitée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6334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Importante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0347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Critique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↑ Vraisemblance   → Gravité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Résiduel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17373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Maximale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80960" y="1737360"/>
            <a:ext cx="104013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21090" y="1737360"/>
            <a:ext cx="1040130" cy="1005840"/>
          </a:xfrm>
          <a:prstGeom prst="rect">
            <a:avLst/>
          </a:prstGeom>
          <a:solidFill>
            <a:srgbClr val="F97316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1220" y="1737360"/>
            <a:ext cx="104013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01350" y="1737360"/>
            <a:ext cx="104013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Forte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274320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21090" y="274320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21090" y="274320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761220" y="2743200"/>
            <a:ext cx="1040130" cy="1005840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61220" y="274320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801350" y="2743200"/>
            <a:ext cx="104013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749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Significative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680960" y="374904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21090" y="374904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21090" y="374904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761220" y="374904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61220" y="374904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801350" y="3749040"/>
            <a:ext cx="1040130" cy="1005840"/>
          </a:xfrm>
          <a:prstGeom prst="rect">
            <a:avLst/>
          </a:prstGeom>
          <a:solidFill>
            <a:srgbClr val="F97316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4754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Minime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680960" y="475488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21090" y="4754880"/>
            <a:ext cx="104013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61220" y="4754880"/>
            <a:ext cx="1040130" cy="1005840"/>
          </a:xfrm>
          <a:prstGeom prst="rect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61220" y="475488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801350" y="4754880"/>
            <a:ext cx="1040130" cy="10058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801350" y="4754880"/>
            <a:ext cx="10401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68096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Négligeable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72109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Limitée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76122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Importante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801350" y="5806440"/>
            <a:ext cx="10401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Critique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5508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↑ Vraisemblance   → Gravité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Avancement sur les risques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Risques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305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Acceptables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34056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À traiter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71216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10912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Risques à traiter sans plan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8072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287768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4928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Réduction brut → résiduel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24928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-22 %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564624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Résiduels au-dessus de l’appétit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01784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</a:rPr>
              <a:t>Répartition des risques par niveau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926080"/>
          <a:ext cx="6766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749808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</a:rPr>
              <a:t>Risques par catégorie</a:t>
            </a:r>
            <a:endParaRPr lang="en-US" sz="12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7498080" y="29260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Avancement des plans d’action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Avancement des plans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0 %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305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 terminé(s) sur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34056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Plans en retard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71216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10912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Échéance sous 30 jours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8072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287768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4928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Plans sans porteur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24928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8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564624" y="12801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Plans sans échéance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01784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</a:rPr>
              <a:t>Plans par statut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92608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26517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</a:rPr>
              <a:t>Plans d’action restants</a:t>
            </a:r>
            <a:endParaRPr lang="en-US" sz="12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663440" y="2926080"/>
          <a:ext cx="7040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4663440" y="58978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Aujourd’hui : 18 /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Plans d’action par priorité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1005840"/>
                <a:gridCol w="146304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Plan d’action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Risque(s) visé(s)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Échéance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Porteur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Choisir un hébergeur certifié HDS et contractualiser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 · Fuite des données de santé des adhérents (justificatifs, actes remboursés)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Critique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15/12/2026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DSI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Test d’intrusion du portail et de l’API avant recette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 · Fuite des données de santé des adhérents (justificatifs, actes remboursés)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Critique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31/01/2027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RSSI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Spécifier le parcours de changement d’IBAN sécurisé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R6 · Prise de contrôle d’espaces adhérents et détournement des remboursements (modification d’IBAN)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Critique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20/12/2026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Direction relation adhérents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Réaliser et valider l’AIPD du portail et de l’assistant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R4 · Analyse d’impact (AIPD) non réalisée avant la mise en service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Critique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31/01/2027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Inscrire l’assistant au registre IA et qualifier son classement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R5 · Réponse erronée ou divulgation de données par l’assistant d’IA (y compris par injection d’instructions)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31/12/2026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Campagne de tests adverses de l’assistant avant ouverture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R5 · Réponse erronée ou divulgation de données par l’assistant d’IA (y compris par injection d’instructions)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10/02/2027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RSSI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Valider le planning et le chemin critique avec le PMO ou le sponsor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R2 · Dérive du planning : le projet ne tient pas ses jalons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Intégrer la lecture automatique au dispositif de lutte contre la fraude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R7 · Fraude aux remboursements par faux justificatifs ou devis falsifiés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15/02/2027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Responsable lutte contre la fraude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Inscrire les quatre prestataires au registre d’informations 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R20 · Défaillance d’un prestataire TIC critique (signature électronique, IA, paiement) sans réversibilité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15/01/2027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Achats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Exercice de reprise d’activité sur l’environnement de production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R21 · Indisponibilité du portail ou de l’hébergeur au-delà de 4 heures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20/02/2027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Exploitation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Construire le plan de conduite du changement avec les représentants des métiers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R10 · Adhésion insuffisante des utilisateurs, conduite du changement mal préparée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Faire qualifier le traitement de données personnelles par le DPO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R11 · Traitement de données personnelles non conforme au RGPD (registre, information des personnes, analyse d’impact)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2E81"/>
                </a:solidFill>
              </a:rPr>
              <a:t>Plans d’action par priorité (suite 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Espace adhérent 2027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1005840"/>
                <a:gridCol w="146304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Plan d’action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Risque(s) visé(s)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Échéance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Porteur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Faire valider le budget et ses provisions par le contrôle de gestion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R8 · Dépassement du budget du projet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Faire valider les clauses du contrat par les achats et le juridique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R12 · Défaillance d’un prestataire ou d’un fournisseur clé du projet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Faire valider les exigences de sécurité et le besoin d’homologation par le RSSI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R13 · Exigences de sécurité non prises en compte dans le projet (conception, tests, homologation)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Identifier les compétences clés et leurs suppléants avec les managers concernés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R9 · Indisponibilité ou départ de compétences clés du projet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Valider le plan de bascule et de retour arrière avec l’exploitation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R14 · Mise en service perturbée : reprise de données incomplète ou retour arrière impossible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Majeur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Former les conseillers et préparer le passage de relais depuis l’assistant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R19 · Conseillers non préparés aux nouveaux parcours et à l’assistant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Modéré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25/02/2027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À faire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Direction relation adhérents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2026-10-07T05:57:02Z</dcterms:created>
  <dcterms:modified xsi:type="dcterms:W3CDTF">2026-10-07T05:57:02Z</dcterms:modified>
</cp:coreProperties>
</file>